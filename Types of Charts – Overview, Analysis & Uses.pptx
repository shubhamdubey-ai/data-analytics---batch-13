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20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6506a4d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6506a4d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56506a4d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56506a4d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64b4b11c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64b4b11c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64b4b11c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64b4b11c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64b4b11c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64b4b11c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64b4b11c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64b4b11c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4b4b11c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4b4b11c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64b4b11c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64b4b11c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4b4b11c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64b4b11c0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64b4b11c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64b4b11c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4b4b11c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64b4b11c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>
                <a:latin typeface="Adani Bold" panose="02000503000000020004" pitchFamily="2" charset="0"/>
              </a:rPr>
              <a:t>Types of Charts – Overview, Analysis &amp; Uses</a:t>
            </a:r>
            <a:endParaRPr sz="4800" dirty="0">
              <a:latin typeface="Adani Bold" panose="02000503000000020004" pitchFamily="2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-2085348" y="160000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1. Bar Chart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80100" y="1272575"/>
            <a:ext cx="40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A bar chart uses rectangular bars of equal width but varying height or length to represent data.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Compares quantities across categories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Longer bar = higher value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Easy to identify largest and smallest groups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804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62" name="Google Shape;62;p14" title="download.png"/>
          <p:cNvPicPr preferRelativeResize="0"/>
          <p:nvPr/>
        </p:nvPicPr>
        <p:blipFill rotWithShape="1">
          <a:blip r:embed="rId4">
            <a:alphaModFix/>
          </a:blip>
          <a:srcRect r="42233"/>
          <a:stretch/>
        </p:blipFill>
        <p:spPr>
          <a:xfrm>
            <a:off x="5152400" y="1586825"/>
            <a:ext cx="3790575" cy="22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-1754255" y="7487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2. Column Chart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Similar to a bar chart but bars are vertical.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changes over time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Highlights rise and fall in values</a:t>
            </a: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69" name="Google Shape;69;p15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download.png"/>
          <p:cNvPicPr preferRelativeResize="0"/>
          <p:nvPr/>
        </p:nvPicPr>
        <p:blipFill rotWithShape="1">
          <a:blip r:embed="rId4">
            <a:alphaModFix/>
          </a:blip>
          <a:srcRect l="50497"/>
          <a:stretch/>
        </p:blipFill>
        <p:spPr>
          <a:xfrm>
            <a:off x="4486875" y="1039075"/>
            <a:ext cx="4343775" cy="29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ctrTitle"/>
          </p:nvPr>
        </p:nvSpPr>
        <p:spPr>
          <a:xfrm>
            <a:off x="-2106548" y="7487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3. Line Chart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Uses points connected by lines to show trends over time.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upward or downward trends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Helps predict future values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Identifies patterns (increase/decrease)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77" name="Google Shape;77;p16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5849" y="1311823"/>
            <a:ext cx="4325350" cy="26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ctrTitle"/>
          </p:nvPr>
        </p:nvSpPr>
        <p:spPr>
          <a:xfrm>
            <a:off x="-2106548" y="7487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4. Pie Chart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A circular chart divided into slices representing parts of a whole.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percentage distribution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Slices indicate relative proportion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Larger slice = larger share</a:t>
            </a: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85" name="Google Shape;85;p17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i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6950" y="1039084"/>
            <a:ext cx="4690350" cy="292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ctrTitle"/>
          </p:nvPr>
        </p:nvSpPr>
        <p:spPr>
          <a:xfrm>
            <a:off x="-2106548" y="7487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5. Histogram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1"/>
          </p:nvPr>
        </p:nvSpPr>
        <p:spPr>
          <a:xfrm>
            <a:off x="285151" y="1198237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Similar to a bar chart but used for </a:t>
            </a: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continuous data</a:t>
            </a: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 and intervals (bins).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frequency distribution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Identifies shape (normal, skewed)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Useful for studying spread of data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93" name="Google Shape;93;p18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1224" y="984375"/>
            <a:ext cx="4727625" cy="31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ctrTitle"/>
          </p:nvPr>
        </p:nvSpPr>
        <p:spPr>
          <a:xfrm>
            <a:off x="-1834405" y="210212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6. Scatter Plot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Displays data as individual points on a coordinate plane.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relationship between two variables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Identifies correlation (positive, negative, none)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Reveals clusters or outliers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101" name="Google Shape;101;p19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838" y="1174413"/>
            <a:ext cx="4760696" cy="27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ctrTitle"/>
          </p:nvPr>
        </p:nvSpPr>
        <p:spPr>
          <a:xfrm>
            <a:off x="-1860298" y="7487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7. Area Chart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Similar to a line chart but area under the line is filled with </a:t>
            </a:r>
            <a:r>
              <a:rPr lang="en-GB" sz="1600" dirty="0" err="1">
                <a:solidFill>
                  <a:schemeClr val="dk1"/>
                </a:solidFill>
                <a:latin typeface="Adani Regular" panose="02000503000000020004" pitchFamily="2" charset="0"/>
              </a:rPr>
              <a:t>color</a:t>
            </a: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cumulative totals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Highlights volume and changes over time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109" name="Google Shape;109;p20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downloa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1925" y="1191475"/>
            <a:ext cx="4744300" cy="27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>
            <a:off x="-522913" y="159300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8. Radar Chart(Spider Chart)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343425" y="1244275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Displays multiple variables on a circular graph with several axes.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Compares strengths and weaknesses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performance across many attributes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117" name="Google Shape;117;p21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title="downloa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252" y="1244275"/>
            <a:ext cx="3283123" cy="30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ctrTitle"/>
          </p:nvPr>
        </p:nvSpPr>
        <p:spPr>
          <a:xfrm>
            <a:off x="-1209598" y="158688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9. Box &amp; Whisker Plot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distribution of data using median, quartiles, and extremes.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Identifies outliers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data spread and skewness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Useful for statistical comparison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125" name="Google Shape;125;p22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 title="fig04-5-2-1-e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3050" y="1814275"/>
            <a:ext cx="5019678" cy="188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ctrTitle"/>
          </p:nvPr>
        </p:nvSpPr>
        <p:spPr>
          <a:xfrm>
            <a:off x="-1778273" y="8207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10. Donut Chart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A variation of the pie chart with a hollow </a:t>
            </a:r>
            <a:r>
              <a:rPr lang="en-GB" sz="1600" dirty="0" err="1">
                <a:solidFill>
                  <a:schemeClr val="dk1"/>
                </a:solidFill>
                <a:latin typeface="Adani Regular" panose="02000503000000020004" pitchFamily="2" charset="0"/>
              </a:rPr>
              <a:t>center</a:t>
            </a: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Shows proportion of categories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 err="1">
                <a:solidFill>
                  <a:schemeClr val="dk1"/>
                </a:solidFill>
                <a:latin typeface="Adani Regular" panose="02000503000000020004" pitchFamily="2" charset="0"/>
              </a:rPr>
              <a:t>Center</a:t>
            </a: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 can be used for labels or totals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133" name="Google Shape;133;p23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8141" y="1299000"/>
            <a:ext cx="4047059" cy="25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ctrTitle"/>
          </p:nvPr>
        </p:nvSpPr>
        <p:spPr>
          <a:xfrm>
            <a:off x="-2067048" y="123125"/>
            <a:ext cx="6835200" cy="9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dani Bold" panose="02000503000000020004" pitchFamily="2" charset="0"/>
              </a:rPr>
              <a:t>11. Heat Map</a:t>
            </a:r>
            <a:endParaRPr sz="3200" dirty="0">
              <a:latin typeface="Adani Bold" panose="02000503000000020004" pitchFamily="2" charset="0"/>
            </a:endParaRPr>
          </a:p>
        </p:txBody>
      </p:sp>
      <p:sp>
        <p:nvSpPr>
          <p:cNvPr id="140" name="Google Shape;140;p24"/>
          <p:cNvSpPr txBox="1">
            <a:spLocks noGrp="1"/>
          </p:cNvSpPr>
          <p:nvPr>
            <p:ph type="subTitle" idx="1"/>
          </p:nvPr>
        </p:nvSpPr>
        <p:spPr>
          <a:xfrm>
            <a:off x="256950" y="1395700"/>
            <a:ext cx="3476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Description: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Uses </a:t>
            </a:r>
            <a:r>
              <a:rPr lang="en-GB" sz="1600" dirty="0" err="1">
                <a:solidFill>
                  <a:schemeClr val="dk1"/>
                </a:solidFill>
                <a:latin typeface="Adani Regular" panose="02000503000000020004" pitchFamily="2" charset="0"/>
              </a:rPr>
              <a:t>colors</a:t>
            </a: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 to represent values in a data matrix.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latin typeface="Adani Regular" panose="02000503000000020004" pitchFamily="2" charset="0"/>
              </a:rPr>
              <a:t>Analysis:</a:t>
            </a:r>
            <a:endParaRPr sz="16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Highlights intensity or magnitude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Quickly shows high/low regions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600" dirty="0">
                <a:solidFill>
                  <a:schemeClr val="dk1"/>
                </a:solidFill>
                <a:latin typeface="Adani Regular" panose="02000503000000020004" pitchFamily="2" charset="0"/>
              </a:rPr>
              <a:t>Good for large datasets</a:t>
            </a:r>
            <a:endParaRPr sz="1600" dirty="0">
              <a:solidFill>
                <a:schemeClr val="dk1"/>
              </a:solidFill>
              <a:latin typeface="Adani Regular" panose="02000503000000020004" pitchFamily="2" charset="0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dani Regular" panose="02000503000000020004" pitchFamily="2" charset="0"/>
            </a:endParaRPr>
          </a:p>
        </p:txBody>
      </p:sp>
      <p:pic>
        <p:nvPicPr>
          <p:cNvPr id="141" name="Google Shape;141;p24" title="download.png"/>
          <p:cNvPicPr preferRelativeResize="0"/>
          <p:nvPr/>
        </p:nvPicPr>
        <p:blipFill rotWithShape="1">
          <a:blip r:embed="rId4">
            <a:alphaModFix/>
          </a:blip>
          <a:srcRect l="-20957" t="129720" r="70518" b="-129720"/>
          <a:stretch/>
        </p:blipFill>
        <p:spPr>
          <a:xfrm>
            <a:off x="1969850" y="2942600"/>
            <a:ext cx="1849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2249" y="1242250"/>
            <a:ext cx="4872625" cy="27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On-screen Show (16:9)</PresentationFormat>
  <Paragraphs>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Adani Bold</vt:lpstr>
      <vt:lpstr>Adani Regular</vt:lpstr>
      <vt:lpstr>Arial</vt:lpstr>
      <vt:lpstr>Simple Light</vt:lpstr>
      <vt:lpstr>Types of Charts – Overview, Analysis &amp; Uses</vt:lpstr>
      <vt:lpstr>1. Bar Chart</vt:lpstr>
      <vt:lpstr>2. Column Chart</vt:lpstr>
      <vt:lpstr>3. Line Chart</vt:lpstr>
      <vt:lpstr>4. Pie Chart</vt:lpstr>
      <vt:lpstr>5. Histogram</vt:lpstr>
      <vt:lpstr>6. Scatter Plot</vt:lpstr>
      <vt:lpstr>7. Area Chart</vt:lpstr>
      <vt:lpstr>8. Radar Chart(Spider Chart)</vt:lpstr>
      <vt:lpstr>9. Box &amp; Whisker Plot</vt:lpstr>
      <vt:lpstr>10. Donut Chart</vt:lpstr>
      <vt:lpstr>11. Heat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Charts – Overview, Analysis &amp; Uses</dc:title>
  <dc:creator>Shankh Chatterjee</dc:creator>
  <cp:lastModifiedBy>Shankh Chatterjee</cp:lastModifiedBy>
  <cp:revision>1</cp:revision>
  <dcterms:modified xsi:type="dcterms:W3CDTF">2025-11-19T12:46:26Z</dcterms:modified>
</cp:coreProperties>
</file>